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Default Extension="svg" ContentType="image/svg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9.12-->
<p:presentation xmlns:r="http://schemas.openxmlformats.org/officeDocument/2006/relationships" xmlns:a="http://schemas.openxmlformats.org/drawingml/2006/main" xmlns:p="http://schemas.openxmlformats.org/presentationml/2006/main" embedTrueTypeFonts="1" saveSubsetFonts="1" autoCompressPictures="0">
  <p:sldMasterIdLst>
    <p:sldMasterId id="2147483648" r:id="rId2"/>
    <p:sldMasterId id="2147483651" r:id="rId3"/>
  </p:sldMasterIdLst>
  <p:notesMasterIdLst>
    <p:notesMasterId r:id="rId4"/>
  </p:notesMasterIdLst>
  <p:sldIdLst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</p:sldIdLst>
  <p:sldSz cx="9144000" cy="5143500" type="screen16x9"/>
  <p:notesSz cx="5143500" cy="9144000"/>
  <p:embeddedFontLst>
    <p:embeddedFont>
      <p:font typeface="Arial Black" panose="020B0A04020102020204" pitchFamily="34" charset="0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Inter" panose="02000503000000020004" pitchFamily="50" charset="0"/>
      <p:regular r:id="rId24"/>
      <p:bold r:id="rId25"/>
      <p:italic r:id="rId26"/>
      <p:boldItalic r:id="rId27"/>
    </p:embeddedFont>
    <p:embeddedFont>
      <p:font typeface="Inter Bold" panose="020B0604020202020204" charset="0"/>
      <p:regular r:id="rId28"/>
    </p:embeddedFont>
  </p:embeddedFontLst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16" userDrawn="1">
          <p15:clr>
            <a:srgbClr val="A4A3A4"/>
          </p15:clr>
        </p15:guide>
        <p15:guide id="2" pos="2952" userDrawn="1">
          <p15:clr>
            <a:srgbClr val="A4A3A4"/>
          </p15:clr>
        </p15:guide>
        <p15:guide id="3" orient="horz" pos="20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p="http://schemas.openxmlformats.org/presentationml/2006/main">
  <p:cmAuthor id="1" name="Максим Трифонов" initials="МТ" lastIdx="1" clrIdx="0">
    <p:extLst>
      <p:ext uri="{19B8F6BF-5375-455C-9EA6-DF929625EA0E}">
        <p15:presenceInfo xmlns:p15="http://schemas.microsoft.com/office/powerpoint/2012/main" userId="d451c075ad416a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18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24" y="72"/>
      </p:cViewPr>
      <p:guideLst>
        <p:guide pos="216"/>
        <p:guide pos="2952"/>
        <p:guide orient="horz" pos="207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tags" Target="tags/tag1.xml" /><Relationship Id="rId17" Type="http://schemas.openxmlformats.org/officeDocument/2006/relationships/font" Target="fonts/font1.fntdata" /><Relationship Id="rId18" Type="http://schemas.openxmlformats.org/officeDocument/2006/relationships/font" Target="fonts/font2.fntdata" /><Relationship Id="rId19" Type="http://schemas.openxmlformats.org/officeDocument/2006/relationships/font" Target="fonts/font3.fntdata" /><Relationship Id="rId2" Type="http://schemas.openxmlformats.org/officeDocument/2006/relationships/slideMaster" Target="slideMasters/slideMaster1.xml" /><Relationship Id="rId20" Type="http://schemas.openxmlformats.org/officeDocument/2006/relationships/font" Target="fonts/font4.fntdata" /><Relationship Id="rId21" Type="http://schemas.openxmlformats.org/officeDocument/2006/relationships/font" Target="fonts/font5.fntdata" /><Relationship Id="rId22" Type="http://schemas.openxmlformats.org/officeDocument/2006/relationships/font" Target="fonts/font6.fntdata" /><Relationship Id="rId23" Type="http://schemas.openxmlformats.org/officeDocument/2006/relationships/font" Target="fonts/font7.fntdata" /><Relationship Id="rId24" Type="http://schemas.openxmlformats.org/officeDocument/2006/relationships/font" Target="fonts/font8.fntdata" /><Relationship Id="rId25" Type="http://schemas.openxmlformats.org/officeDocument/2006/relationships/font" Target="fonts/font9.fntdata" /><Relationship Id="rId26" Type="http://schemas.openxmlformats.org/officeDocument/2006/relationships/font" Target="fonts/font10.fntdata" /><Relationship Id="rId27" Type="http://schemas.openxmlformats.org/officeDocument/2006/relationships/font" Target="fonts/font11.fntdata" /><Relationship Id="rId28" Type="http://schemas.openxmlformats.org/officeDocument/2006/relationships/font" Target="fonts/font12.fntdata" /><Relationship Id="rId29" Type="http://schemas.openxmlformats.org/officeDocument/2006/relationships/presProps" Target="presProps.xml" /><Relationship Id="rId3" Type="http://schemas.openxmlformats.org/officeDocument/2006/relationships/slideMaster" Target="slideMasters/slideMaster2.xml" /><Relationship Id="rId30" Type="http://schemas.openxmlformats.org/officeDocument/2006/relationships/viewProps" Target="viewProps.xml" /><Relationship Id="rId31" Type="http://schemas.openxmlformats.org/officeDocument/2006/relationships/theme" Target="theme/theme1.xml" /><Relationship Id="rId32" Type="http://schemas.openxmlformats.org/officeDocument/2006/relationships/tableStyles" Target="tableStyles.xml" /><Relationship Id="rId4" Type="http://schemas.openxmlformats.org/officeDocument/2006/relationships/notesMaster" Target="notesMasters/notesMaster1.xml" /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/Relationships>
</file>

<file path=ppt/comments/comment1.xml><?xml version="1.0" encoding="utf-8"?>
<p:cmLst xmlns:a="http://schemas.openxmlformats.org/drawingml/2006/main" xmlns:p="http://schemas.openxmlformats.org/presentationml/2006/main">
  <p:cm authorId="1" dt="2026-06-29T11:51:32.5490000" idx="1">
    <p:pos x="10" y="10"/>
    <p:text/>
    <p:extLst>
      <p:ext xmlns:p15="http://schemas.microsoft.com/office/powerpoint/2012/main" uri="{C676402C-5697-4E1C-873F-D02D1690AC5C}">
        <p15:threadingInfo timeZoneBias="-300"/>
      </p:ext>
    </p:extLst>
  </p:cm>
</p:cmLst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  <p:extLst>
      <p:ext uri="{BB962C8B-B14F-4D97-AF65-F5344CB8AC3E}">
        <p14:creationId xmlns:p14="http://schemas.microsoft.com/office/powerpoint/2010/main" val="403194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89988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34B2E28-CE1A-4A89-99A1-23B5A328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7489-CD3B-4A33-A1D3-481ABBD05CA7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8271F07-1FAD-48F1-991F-FB7751F0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B2530A-6B1D-4E1E-B7D2-F3A7863F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3F469-D9A4-4C3E-82C0-28C9DB56B4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44276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2C09E-2924-46E3-A385-F0C2A1153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3FAB80-F94F-48B6-98F8-346B1CD59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CF2429-C477-4147-8528-D98EB6462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47489-CD3B-4A33-A1D3-481ABBD05CA7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5F057B-5656-4F25-A5C9-C31884DDC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D023D4-D46E-4795-9C2F-D433196C19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3F469-D9A4-4C3E-82C0-28C9DB56B4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59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ransition/>
  <p:timing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2.jpe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3.png" /><Relationship Id="rId4" Type="http://schemas.openxmlformats.org/officeDocument/2006/relationships/image" Target="../media/image4.svg" /><Relationship Id="rId5" Type="http://schemas.openxmlformats.org/officeDocument/2006/relationships/image" Target="../media/image5.svg" /><Relationship Id="rId6" Type="http://schemas.openxmlformats.org/officeDocument/2006/relationships/image" Target="../media/image6.svg" /><Relationship Id="rId7" Type="http://schemas.openxmlformats.org/officeDocument/2006/relationships/image" Target="../media/image7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8.png" /><Relationship Id="rId4" Type="http://schemas.openxmlformats.org/officeDocument/2006/relationships/image" Target="../media/image9.svg" /><Relationship Id="rId5" Type="http://schemas.openxmlformats.org/officeDocument/2006/relationships/image" Target="../media/image10.png" /><Relationship Id="rId6" Type="http://schemas.openxmlformats.org/officeDocument/2006/relationships/image" Target="../media/image11.svg" /><Relationship Id="rId7" Type="http://schemas.openxmlformats.org/officeDocument/2006/relationships/image" Target="../media/image12.png" /><Relationship Id="rId8" Type="http://schemas.openxmlformats.org/officeDocument/2006/relationships/image" Target="../media/image13.sv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4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15.jpeg" /><Relationship Id="rId4" Type="http://schemas.openxmlformats.org/officeDocument/2006/relationships/image" Target="../media/image16.png" /><Relationship Id="rId5" Type="http://schemas.openxmlformats.org/officeDocument/2006/relationships/image" Target="../media/image17.svg" /><Relationship Id="rId6" Type="http://schemas.openxmlformats.org/officeDocument/2006/relationships/image" Target="../media/image18.svg" /><Relationship Id="rId7" Type="http://schemas.openxmlformats.org/officeDocument/2006/relationships/image" Target="../media/image19.sv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20.jpeg" /><Relationship Id="rId4" Type="http://schemas.openxmlformats.org/officeDocument/2006/relationships/image" Target="../media/image21.jpeg" /><Relationship Id="rId5" Type="http://schemas.openxmlformats.org/officeDocument/2006/relationships/image" Target="../media/image22.jpe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23.jpeg" /><Relationship Id="rId4" Type="http://schemas.openxmlformats.org/officeDocument/2006/relationships/image" Target="../media/image24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Relationship Id="rId3" Type="http://schemas.openxmlformats.org/officeDocument/2006/relationships/comments" Target="../comments/comment1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25.jpeg" /><Relationship Id="rId4" Type="http://schemas.openxmlformats.org/officeDocument/2006/relationships/image" Target="../media/image26.jpe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0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>
    <p:bg>
      <p:bgPr>
        <a:gradFill flip="none" rotWithShape="1"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00319746-CD82-4F10-9C87-716917E05443}"/>
              </a:ext>
            </a:extLst>
          </p:cNvPr>
          <p:cNvSpPr/>
          <p:nvPr/>
        </p:nvSpPr>
        <p:spPr>
          <a:xfrm>
            <a:off x="324132" y="1805215"/>
            <a:ext cx="4804832" cy="19013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just">
              <a:buNone/>
            </a:pPr>
            <a:r>
              <a:rPr lang="en-US" sz="4400" b="1" err="1">
                <a:ln w="38100">
                  <a:noFill/>
                </a:ln>
                <a:latin typeface="Arial Black" panose="020b0a04020102020204" pitchFamily="34" charset="0"/>
                <a:ea typeface="Inter Bold" panose="020b0604020202020204" charset="0"/>
                <a:cs typeface="Ramona" pitchFamily="2" charset="0"/>
              </a:rPr>
              <a:t>Агрегатор </a:t>
            </a:r>
          </a:p>
          <a:p>
            <a:pPr marL="0" indent="0" algn="just">
              <a:buNone/>
            </a:pPr>
            <a:r>
              <a:rPr lang="en-US" sz="4400" b="1">
                <a:ln w="38100">
                  <a:noFill/>
                </a:ln>
                <a:latin typeface="Arial Black" panose="020b0a04020102020204" pitchFamily="34" charset="0"/>
                <a:ea typeface="Inter Bold" panose="020b0604020202020204" charset="0"/>
                <a:cs typeface="Ramona" pitchFamily="2" charset="0"/>
              </a:rPr>
              <a:t>IT </a:t>
            </a:r>
            <a:r>
              <a:rPr lang="ru-RU" sz="4400" b="1">
                <a:ln w="38100">
                  <a:noFill/>
                </a:ln>
                <a:latin typeface="Arial Black" panose="020b0a04020102020204" pitchFamily="34" charset="0"/>
                <a:ea typeface="Inter Bold" panose="020b0604020202020204" charset="0"/>
                <a:cs typeface="Ramona" pitchFamily="2" charset="0"/>
              </a:rPr>
              <a:t>мероприятий</a:t>
            </a:r>
            <a:endParaRPr lang="en-US" sz="4400">
              <a:ln w="38100">
                <a:noFill/>
              </a:ln>
              <a:latin typeface="Arial Black" panose="020b0a04020102020204" pitchFamily="34" charset="0"/>
              <a:ea typeface="Inter Bold" panose="020b0604020202020204" charset="0"/>
              <a:cs typeface="Ramona" pitchFamily="2" charset="0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78941EC7-A3D8-4592-93E0-D6A975B89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E320F016-92E2-40D7-AF34-D9CAFBF17606}"/>
              </a:ext>
            </a:extLst>
          </p:cNvPr>
          <p:cNvSpPr/>
          <p:nvPr/>
        </p:nvSpPr>
        <p:spPr>
          <a:xfrm rot="16200000">
            <a:off x="3298316" y="2458344"/>
            <a:ext cx="441850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Командный проект · Школа 21 · Django · LiteSQL · OpenRouter.ai</a:t>
            </a:r>
            <a:endParaRPr lang="en-US" sz="11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BB944-9161-4CC6-A7E4-8CA4695ED4AB}"/>
              </a:ext>
            </a:extLst>
          </p:cNvPr>
          <p:cNvSpPr txBox="1"/>
          <p:nvPr/>
        </p:nvSpPr>
        <p:spPr>
          <a:xfrm>
            <a:off x="287034" y="4013200"/>
            <a:ext cx="2439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/>
              <a:t>Команда 6 УГНТУ ВТИК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83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2">
    <p:bg>
      <p:bgPr>
        <a:gradFill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067" y="-195673"/>
            <a:ext cx="3669515" cy="55042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58180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Проблема: Информационный шум</a:t>
            </a:r>
            <a:endParaRPr lang="en-US" sz="2750"/>
          </a:p>
        </p:txBody>
      </p:sp>
      <p:sp>
        <p:nvSpPr>
          <p:cNvPr id="4" name="Shape 1"/>
          <p:cNvSpPr/>
          <p:nvPr/>
        </p:nvSpPr>
        <p:spPr>
          <a:xfrm>
            <a:off x="3925119" y="1656755"/>
            <a:ext cx="2290465" cy="1733624"/>
          </a:xfrm>
          <a:prstGeom prst="roundRect">
            <a:avLst>
              <a:gd name="adj" fmla="val 343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Text 2"/>
          <p:cNvSpPr/>
          <p:nvPr/>
        </p:nvSpPr>
        <p:spPr>
          <a:xfrm>
            <a:off x="4071640" y="1803276"/>
            <a:ext cx="185670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Десятки источников</a:t>
            </a:r>
            <a:endParaRPr lang="en-US" sz="1350"/>
          </a:p>
        </p:txBody>
      </p:sp>
      <p:sp>
        <p:nvSpPr>
          <p:cNvPr id="6" name="Text 3"/>
          <p:cNvSpPr/>
          <p:nvPr/>
        </p:nvSpPr>
        <p:spPr>
          <a:xfrm>
            <a:off x="4071640" y="2109788"/>
            <a:ext cx="1997422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Карьерные порталы, сайты вузов, олимпиадные платформы — всё разбросано по разным местам</a:t>
            </a:r>
            <a:r>
              <a:rPr lang="ru-RU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/>
          </a:p>
        </p:txBody>
      </p:sp>
      <p:sp>
        <p:nvSpPr>
          <p:cNvPr id="7" name="Shape 4"/>
          <p:cNvSpPr/>
          <p:nvPr/>
        </p:nvSpPr>
        <p:spPr>
          <a:xfrm>
            <a:off x="6357342" y="1656755"/>
            <a:ext cx="2290539" cy="1733624"/>
          </a:xfrm>
          <a:prstGeom prst="roundRect">
            <a:avLst>
              <a:gd name="adj" fmla="val 343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Text 5"/>
          <p:cNvSpPr/>
          <p:nvPr/>
        </p:nvSpPr>
        <p:spPr>
          <a:xfrm>
            <a:off x="6503863" y="1803276"/>
            <a:ext cx="17783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Ручной мониторинг</a:t>
            </a:r>
            <a:endParaRPr lang="en-US" sz="1350"/>
          </a:p>
        </p:txBody>
      </p:sp>
      <p:sp>
        <p:nvSpPr>
          <p:cNvPr id="9" name="Text 6"/>
          <p:cNvSpPr/>
          <p:nvPr/>
        </p:nvSpPr>
        <p:spPr>
          <a:xfrm>
            <a:off x="6503863" y="2109788"/>
            <a:ext cx="199749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Ежедневный поиск отнимает часы времени без гарантии результата</a:t>
            </a:r>
            <a:r>
              <a:rPr lang="ru-RU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/>
          </a:p>
        </p:txBody>
      </p:sp>
      <p:sp>
        <p:nvSpPr>
          <p:cNvPr id="10" name="Shape 7"/>
          <p:cNvSpPr/>
          <p:nvPr/>
        </p:nvSpPr>
        <p:spPr>
          <a:xfrm>
            <a:off x="3925119" y="3532138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4071640" y="3678659"/>
            <a:ext cx="200687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Упущенные дедлайны</a:t>
            </a:r>
            <a:endParaRPr lang="en-US" sz="1350"/>
          </a:p>
        </p:txBody>
      </p:sp>
      <p:sp>
        <p:nvSpPr>
          <p:cNvPr id="12" name="Text 9"/>
          <p:cNvSpPr/>
          <p:nvPr/>
        </p:nvSpPr>
        <p:spPr>
          <a:xfrm>
            <a:off x="4071640" y="3985171"/>
            <a:ext cx="4429720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Из-за разрозненности данных студенты пропускают важные сроки подачи заявок</a:t>
            </a:r>
            <a:r>
              <a:rPr lang="ru-RU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/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3">
    <p:bg>
      <p:bgPr>
        <a:gradFill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496119" y="562570"/>
            <a:ext cx="7913638" cy="401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Решение</a:t>
            </a:r>
            <a:r>
              <a:rPr lang="ru-RU" sz="25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- В</a:t>
            </a:r>
            <a:r>
              <a:rPr lang="en-US" sz="2500" b="1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аш личный интеллектуальный хаб</a:t>
            </a:r>
            <a:endParaRPr lang="en-US" sz="250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1352" y="1273522"/>
            <a:ext cx="192658" cy="1926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20669" y="1269578"/>
            <a:ext cx="2223864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Автоматизированный сбор</a:t>
            </a:r>
            <a:endParaRPr lang="en-US" sz="1250"/>
          </a:p>
        </p:txBody>
      </p:sp>
      <p:sp>
        <p:nvSpPr>
          <p:cNvPr id="6" name="Text 2"/>
          <p:cNvSpPr/>
          <p:nvPr/>
        </p:nvSpPr>
        <p:spPr>
          <a:xfrm>
            <a:off x="6420669" y="1586657"/>
            <a:ext cx="2231901" cy="5877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Нейропарсинг + классический парсинг работают вместе, охватывая любые источники</a:t>
            </a:r>
            <a:r>
              <a:rPr lang="ru-RU" sz="10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51352" y="2411239"/>
            <a:ext cx="192658" cy="1926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20669" y="2407295"/>
            <a:ext cx="2205112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Централизованный доступ</a:t>
            </a:r>
            <a:endParaRPr lang="en-US" sz="1250"/>
          </a:p>
        </p:txBody>
      </p:sp>
      <p:sp>
        <p:nvSpPr>
          <p:cNvPr id="9" name="Text 4"/>
          <p:cNvSpPr/>
          <p:nvPr/>
        </p:nvSpPr>
        <p:spPr>
          <a:xfrm>
            <a:off x="6420669" y="2724373"/>
            <a:ext cx="2231901" cy="5877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стажировки, гранты и олимпиады — в одном месте, без лишнего шума</a:t>
            </a:r>
            <a:r>
              <a:rPr lang="ru-RU" sz="10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1352" y="3548955"/>
            <a:ext cx="192658" cy="1926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20669" y="3545012"/>
            <a:ext cx="1605930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Умная фильтрация</a:t>
            </a:r>
            <a:endParaRPr lang="en-US" sz="1250"/>
          </a:p>
        </p:txBody>
      </p:sp>
      <p:sp>
        <p:nvSpPr>
          <p:cNvPr id="12" name="Text 6"/>
          <p:cNvSpPr/>
          <p:nvPr/>
        </p:nvSpPr>
        <p:spPr>
          <a:xfrm>
            <a:off x="6420669" y="3862090"/>
            <a:ext cx="2231901" cy="5877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Персонализированная лента подстраивается под ваши навыки и интересы</a:t>
            </a:r>
            <a:r>
              <a:rPr lang="ru-RU" sz="10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EC077A7-F0D4-48AB-B4DC-EF2672CFA0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59" y="1273522"/>
            <a:ext cx="5227812" cy="3231343"/>
          </a:xfrm>
          <a:prstGeom prst="rect">
            <a:avLst/>
          </a:prstGeom>
          <a:ln w="25400" cap="rnd">
            <a:gradFill flip="none" rotWithShape="1">
              <a:gsLst>
                <a:gs pos="49000">
                  <a:srgbClr val="92D050"/>
                </a:gs>
                <a:gs pos="83000">
                  <a:srgbClr val="00B0F0"/>
                </a:gs>
              </a:gsLst>
              <a:lin ang="2700000" scaled="1"/>
            </a:gradFill>
          </a:ln>
          <a:effectLst>
            <a:softEdge rad="0"/>
          </a:effectLst>
        </p:spPr>
      </p:pic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4">
    <p:bg>
      <p:bgPr>
        <a:gradFill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509191" y="490463"/>
            <a:ext cx="4490814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Технологический стек</a:t>
            </a:r>
            <a:endParaRPr lang="en-US" sz="27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8" y="1825997"/>
            <a:ext cx="555253" cy="5552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58430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Django</a:t>
            </a:r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96119" y="2864941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Надёжный бэкенд-фреймворк для управления сложными данными и бизнес-логикой платформы</a:t>
            </a:r>
            <a:r>
              <a:rPr lang="ru-RU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432" y="1825997"/>
            <a:ext cx="555253" cy="5552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558430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LiteSQL</a:t>
            </a:r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272433" y="2864941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Легковесная и эффективная работа с базой данных — минимум накладных расходов</a:t>
            </a:r>
            <a:r>
              <a:rPr lang="ru-RU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6" y="1825997"/>
            <a:ext cx="555253" cy="5552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558430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OpenRouter.ai</a:t>
            </a:r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6048747" y="2864941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продвинутых нейросетей для анализа, классификации и структурирования контента</a:t>
            </a:r>
            <a:r>
              <a:rPr lang="ru-RU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5">
    <p:bg>
      <p:bgPr>
        <a:gradFill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496119" y="481161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Как это работает</a:t>
            </a:r>
            <a:endParaRPr lang="en-US" sz="275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96466686-163F-4F1B-913E-651DE50333BC}"/>
              </a:ext>
            </a:extLst>
          </p:cNvPr>
          <p:cNvGrpSpPr/>
          <p:nvPr/>
        </p:nvGrpSpPr>
        <p:grpSpPr>
          <a:xfrm>
            <a:off x="1566051" y="1086160"/>
            <a:ext cx="6011897" cy="3568080"/>
            <a:chOff x="1566051" y="978210"/>
            <a:chExt cx="6011897" cy="3568080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6051" y="978210"/>
              <a:ext cx="6011897" cy="3568080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5785097" y="3278460"/>
              <a:ext cx="1463225" cy="28788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b="1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Валидация</a:t>
              </a:r>
              <a:endParaRPr lang="en-US"/>
            </a:p>
          </p:txBody>
        </p:sp>
        <p:sp>
          <p:nvSpPr>
            <p:cNvPr id="5" name="Text 2"/>
            <p:cNvSpPr/>
            <p:nvPr/>
          </p:nvSpPr>
          <p:spPr>
            <a:xfrm>
              <a:off x="3840386" y="3287052"/>
              <a:ext cx="1463225" cy="28788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b="1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Обработка</a:t>
              </a:r>
              <a:endParaRPr 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1971606" y="3287055"/>
              <a:ext cx="1463225" cy="287881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b="1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Парсинг</a:t>
              </a:r>
              <a:endParaRPr lang="en-US"/>
            </a:p>
          </p:txBody>
        </p:sp>
      </p:grpSp>
      <p:sp>
        <p:nvSpPr>
          <p:cNvPr id="7" name="Text 4"/>
          <p:cNvSpPr/>
          <p:nvPr/>
        </p:nvSpPr>
        <p:spPr>
          <a:xfrm>
            <a:off x="495300" y="3981897"/>
            <a:ext cx="8444681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err="1"/>
              <a:t>Трёхэтапный конвейер обработки данных обеспечивает актуальность и точность информации, поступающей к пользователю.</a:t>
            </a: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6">
    <p:bg>
      <p:bgPr>
        <a:gradFill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155" y="-292101"/>
            <a:ext cx="3705578" cy="55583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79524"/>
            <a:ext cx="4898306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Ключевые возможности</a:t>
            </a:r>
            <a:endParaRPr lang="en-US" sz="275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135112"/>
            <a:ext cx="4722763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3127" y="1295921"/>
            <a:ext cx="2138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Фильтрация по критериям</a:t>
            </a:r>
            <a:endParaRPr lang="en-US" sz="1350"/>
          </a:p>
        </p:txBody>
      </p:sp>
      <p:sp>
        <p:nvSpPr>
          <p:cNvPr id="6" name="Text 2"/>
          <p:cNvSpPr/>
          <p:nvPr/>
        </p:nvSpPr>
        <p:spPr>
          <a:xfrm>
            <a:off x="733127" y="1602432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Подписка на ключевые навыки — система сама найдёт подходящие предложения</a:t>
            </a:r>
            <a:r>
              <a:rPr lang="ru-RU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58628"/>
            <a:ext cx="4722763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127" y="2519437"/>
            <a:ext cx="211507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Авто-ранжирование</a:t>
            </a:r>
            <a:endParaRPr lang="en-US" sz="1350"/>
          </a:p>
        </p:txBody>
      </p:sp>
      <p:sp>
        <p:nvSpPr>
          <p:cNvPr id="9" name="Text 4"/>
          <p:cNvSpPr/>
          <p:nvPr/>
        </p:nvSpPr>
        <p:spPr>
          <a:xfrm>
            <a:off x="733127" y="2825948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Предложения сортируются по релевантности</a:t>
            </a:r>
            <a:r>
              <a:rPr lang="ru-RU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582144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3127" y="3742953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История и архив</a:t>
            </a:r>
            <a:endParaRPr lang="en-US" sz="1350"/>
          </a:p>
        </p:txBody>
      </p:sp>
      <p:sp>
        <p:nvSpPr>
          <p:cNvPr id="12" name="Text 6"/>
          <p:cNvSpPr/>
          <p:nvPr/>
        </p:nvSpPr>
        <p:spPr>
          <a:xfrm>
            <a:off x="733127" y="4049464"/>
            <a:ext cx="432494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Сохранение </a:t>
            </a:r>
            <a:r>
              <a:rPr lang="ru-RU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прошедших мероприятий.</a:t>
            </a:r>
            <a:endParaRPr lang="en-US" sz="1100"/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7">
    <p:bg>
      <p:bgPr>
        <a:gradFill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5" name="Image 0">
            <a:extLst>
              <a:ext uri="{FF2B5EF4-FFF2-40B4-BE49-F238E27FC236}">
                <a16:creationId xmlns:a16="http://schemas.microsoft.com/office/drawing/2014/main" id="{A70CFE89-93FF-4CD9-86F2-9A04ED0597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98" r="15698"/>
          <a:stretch>
            <a:fillRect/>
          </a:stretch>
        </p:blipFill>
        <p:spPr>
          <a:xfrm>
            <a:off x="6417667" y="1606451"/>
            <a:ext cx="1554113" cy="1510502"/>
          </a:xfrm>
          <a:prstGeom prst="ellipse">
            <a:avLst/>
          </a:prstGeom>
          <a:ln w="63500" cap="rnd">
            <a:solidFill>
              <a:schemeClr val="bg1"/>
            </a:solidFill>
          </a:ln>
          <a:effectLst/>
        </p:spPr>
      </p:pic>
      <p:sp>
        <p:nvSpPr>
          <p:cNvPr id="2" name="Text 0"/>
          <p:cNvSpPr/>
          <p:nvPr/>
        </p:nvSpPr>
        <p:spPr>
          <a:xfrm>
            <a:off x="495300" y="524917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Целевая аудитория</a:t>
            </a:r>
            <a:endParaRPr lang="en-US" sz="275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4"/>
          <a:srcRect l="19903" r="11493"/>
          <a:stretch>
            <a:fillRect/>
          </a:stretch>
        </p:blipFill>
        <p:spPr>
          <a:xfrm>
            <a:off x="1021457" y="1606451"/>
            <a:ext cx="1554113" cy="1510502"/>
          </a:xfrm>
          <a:prstGeom prst="ellipse">
            <a:avLst/>
          </a:prstGeom>
          <a:ln w="57150" cap="rnd">
            <a:solidFill>
              <a:schemeClr val="bg1"/>
            </a:solidFill>
          </a:ln>
          <a:effectLst/>
        </p:spPr>
      </p:pic>
      <p:sp>
        <p:nvSpPr>
          <p:cNvPr id="4" name="Text 1"/>
          <p:cNvSpPr/>
          <p:nvPr/>
        </p:nvSpPr>
        <p:spPr>
          <a:xfrm>
            <a:off x="680269" y="3306704"/>
            <a:ext cx="247069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Студенты и выпускники IT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680269" y="3654411"/>
            <a:ext cx="259913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Ищут стажировки и первые рабочие места в технологической сфере</a:t>
            </a:r>
            <a:r>
              <a:rPr lang="ru-RU" sz="12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/>
          </a:p>
        </p:txBody>
      </p:sp>
      <p:sp>
        <p:nvSpPr>
          <p:cNvPr id="8" name="Text 4"/>
          <p:cNvSpPr/>
          <p:nvPr/>
        </p:nvSpPr>
        <p:spPr>
          <a:xfrm>
            <a:off x="3678833" y="3654411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Нуждаются в актуальной информации о соревнованиях и сроках регистрации</a:t>
            </a:r>
            <a:r>
              <a:rPr lang="ru-RU" sz="12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/>
          </a:p>
        </p:txBody>
      </p:sp>
      <p:sp>
        <p:nvSpPr>
          <p:cNvPr id="7" name="Text 3"/>
          <p:cNvSpPr/>
          <p:nvPr/>
        </p:nvSpPr>
        <p:spPr>
          <a:xfrm>
            <a:off x="3678833" y="3306704"/>
            <a:ext cx="190366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Участники олимпиад</a:t>
            </a:r>
            <a:endParaRPr lang="en-US" sz="1350"/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7E035DA7-D053-4394-8AFF-B58DEB3C62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000" r="16000"/>
          <a:stretch>
            <a:fillRect/>
          </a:stretch>
        </p:blipFill>
        <p:spPr>
          <a:xfrm>
            <a:off x="3719562" y="1606451"/>
            <a:ext cx="1554113" cy="1510502"/>
          </a:xfrm>
          <a:prstGeom prst="ellipse">
            <a:avLst/>
          </a:prstGeom>
          <a:ln w="63500" cap="rnd">
            <a:solidFill>
              <a:schemeClr val="bg1"/>
            </a:solidFill>
          </a:ln>
          <a:effectLst/>
        </p:spPr>
      </p:pic>
      <p:sp>
        <p:nvSpPr>
          <p:cNvPr id="10" name="Text 5"/>
          <p:cNvSpPr/>
          <p:nvPr/>
        </p:nvSpPr>
        <p:spPr>
          <a:xfrm>
            <a:off x="6298555" y="3306704"/>
            <a:ext cx="209951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Молодые специалисты</a:t>
            </a:r>
            <a:endParaRPr lang="en-US" sz="1350"/>
          </a:p>
        </p:txBody>
      </p:sp>
      <p:sp>
        <p:nvSpPr>
          <p:cNvPr id="11" name="Text 6"/>
          <p:cNvSpPr/>
          <p:nvPr/>
        </p:nvSpPr>
        <p:spPr>
          <a:xfrm>
            <a:off x="6298555" y="3656675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Ищут грантовую поддержку и возможности для профессионального роста</a:t>
            </a:r>
            <a:r>
              <a:rPr lang="ru-RU" sz="12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/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="0">
  <p:cSld name="Slide 8">
    <p:bg>
      <p:bgPr>
        <a:gradFill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496119" y="471904"/>
            <a:ext cx="4190181" cy="5375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Анализ конкурентов</a:t>
            </a:r>
            <a:endParaRPr lang="en-US" sz="27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933450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86300" y="1224896"/>
            <a:ext cx="1598712" cy="1142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Почему мы выигрываем</a:t>
            </a:r>
            <a:r>
              <a:rPr lang="ru-RU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?</a:t>
            </a:r>
            <a:endParaRPr lang="en-US" sz="1400"/>
          </a:p>
        </p:txBody>
      </p:sp>
      <p:sp>
        <p:nvSpPr>
          <p:cNvPr id="5" name="Text 2"/>
          <p:cNvSpPr/>
          <p:nvPr/>
        </p:nvSpPr>
        <p:spPr>
          <a:xfrm>
            <a:off x="4686300" y="1554577"/>
            <a:ext cx="3986733" cy="10171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ct val="101000"/>
              </a:lnSpc>
              <a:buNone/>
            </a:pPr>
            <a:r>
              <a:rPr lang="en-US" sz="12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Существующие решения либо перегружены рекламой, либо не имеют никакой структуры. Мы предлагаем </a:t>
            </a:r>
            <a:r>
              <a:rPr lang="en-US" sz="1200" b="1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узкоспециализированный ИИ-фильтр</a:t>
            </a:r>
            <a:r>
              <a:rPr lang="en-US" sz="12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9DBF6BF-8D05-4E22-9FF4-3AC2A72B3FD8}"/>
              </a:ext>
            </a:extLst>
          </p:cNvPr>
          <p:cNvGrpSpPr/>
          <p:nvPr/>
        </p:nvGrpSpPr>
        <p:grpSpPr>
          <a:xfrm>
            <a:off x="4686300" y="2280846"/>
            <a:ext cx="3986733" cy="719046"/>
            <a:chOff x="4665911" y="2798489"/>
            <a:chExt cx="3868489" cy="545844"/>
          </a:xfrm>
        </p:grpSpPr>
        <p:sp>
          <p:nvSpPr>
            <p:cNvPr id="6" name="Shape 3"/>
            <p:cNvSpPr/>
            <p:nvPr/>
          </p:nvSpPr>
          <p:spPr>
            <a:xfrm>
              <a:off x="4665911" y="2798489"/>
              <a:ext cx="3868489" cy="431619"/>
            </a:xfrm>
            <a:prstGeom prst="roundRect">
              <a:avLst>
                <a:gd name="adj" fmla="val 15499"/>
              </a:avLst>
            </a:prstGeom>
            <a:solidFill>
              <a:srgbClr val="DADBF1"/>
            </a:solidFill>
          </p:spPr>
          <p:txBody>
            <a:bodyPr/>
            <a:lstStyle/>
            <a:p/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38985" y="2892475"/>
              <a:ext cx="91306" cy="73075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903366" y="2850579"/>
              <a:ext cx="3495567" cy="493754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marL="0" indent="0">
                <a:lnSpc>
                  <a:spcPct val="101000"/>
                </a:lnSpc>
                <a:buNone/>
              </a:pPr>
              <a:r>
                <a:rPr lang="en-US" sz="120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Ключевое отличие: OpenRouter.ai анализирует </a:t>
              </a:r>
            </a:p>
            <a:p>
              <a:pPr marL="0" indent="0">
                <a:lnSpc>
                  <a:spcPct val="101000"/>
                </a:lnSpc>
                <a:buNone/>
              </a:pPr>
              <a:r>
                <a:rPr lang="en-US" sz="1200" err="1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контент, а не просто собирает ссылки</a:t>
              </a:r>
              <a:endParaRPr lang="en-US" sz="1200"/>
            </a:p>
          </p:txBody>
        </p:sp>
      </p:grp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="0">
  <p:cSld name="Slide 9">
    <p:bg>
      <p:bgPr>
        <a:gradFill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495300" y="506722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Roadmap проекта</a:t>
            </a:r>
            <a:endParaRPr lang="en-US" sz="2750"/>
          </a:p>
        </p:txBody>
      </p:sp>
      <p:sp>
        <p:nvSpPr>
          <p:cNvPr id="3" name="Shape 1"/>
          <p:cNvSpPr/>
          <p:nvPr/>
        </p:nvSpPr>
        <p:spPr>
          <a:xfrm>
            <a:off x="4562475" y="1551756"/>
            <a:ext cx="19050" cy="2766417"/>
          </a:xfrm>
          <a:prstGeom prst="roundRect">
            <a:avLst>
              <a:gd name="adj" fmla="val 312558"/>
            </a:avLst>
          </a:prstGeom>
          <a:solidFill>
            <a:srgbClr val="C0C1D7"/>
          </a:solidFill>
        </p:spPr>
        <p:txBody>
          <a:bodyPr/>
          <a:lstStyle/>
          <a:p/>
        </p:txBody>
      </p:sp>
      <p:sp>
        <p:nvSpPr>
          <p:cNvPr id="4" name="Shape 2"/>
          <p:cNvSpPr/>
          <p:nvPr/>
        </p:nvSpPr>
        <p:spPr>
          <a:xfrm>
            <a:off x="4006304" y="1701701"/>
            <a:ext cx="425276" cy="19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</p:spPr>
        <p:txBody>
          <a:bodyPr/>
          <a:lstStyle/>
          <a:p/>
        </p:txBody>
      </p:sp>
      <p:sp>
        <p:nvSpPr>
          <p:cNvPr id="5" name="Shape 3"/>
          <p:cNvSpPr/>
          <p:nvPr/>
        </p:nvSpPr>
        <p:spPr>
          <a:xfrm>
            <a:off x="4412531" y="155175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/>
        </p:txBody>
      </p:sp>
      <p:sp>
        <p:nvSpPr>
          <p:cNvPr id="6" name="Text 4"/>
          <p:cNvSpPr/>
          <p:nvPr/>
        </p:nvSpPr>
        <p:spPr>
          <a:xfrm>
            <a:off x="4465700" y="1578322"/>
            <a:ext cx="2126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50"/>
          </a:p>
        </p:txBody>
      </p:sp>
      <p:sp>
        <p:nvSpPr>
          <p:cNvPr id="7" name="Text 5"/>
          <p:cNvSpPr/>
          <p:nvPr/>
        </p:nvSpPr>
        <p:spPr>
          <a:xfrm>
            <a:off x="2091184" y="1600423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Этап 1 — MVP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496119" y="1906935"/>
            <a:ext cx="3367088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парсинга 5 ключевых площадок, базовый интерфейс и фильтрация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712419" y="2552254"/>
            <a:ext cx="425276" cy="19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</p:spPr>
        <p:txBody>
          <a:bodyPr/>
          <a:lstStyle/>
          <a:p/>
        </p:txBody>
      </p:sp>
      <p:sp>
        <p:nvSpPr>
          <p:cNvPr id="10" name="Shape 8"/>
          <p:cNvSpPr/>
          <p:nvPr/>
        </p:nvSpPr>
        <p:spPr>
          <a:xfrm>
            <a:off x="4412531" y="240230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Text 9"/>
          <p:cNvSpPr/>
          <p:nvPr/>
        </p:nvSpPr>
        <p:spPr>
          <a:xfrm>
            <a:off x="4465700" y="2428875"/>
            <a:ext cx="2126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50"/>
          </a:p>
        </p:txBody>
      </p:sp>
      <p:sp>
        <p:nvSpPr>
          <p:cNvPr id="12" name="Text 10"/>
          <p:cNvSpPr/>
          <p:nvPr/>
        </p:nvSpPr>
        <p:spPr>
          <a:xfrm>
            <a:off x="5280794" y="2450976"/>
            <a:ext cx="2219846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Этап 2 — Интеграция ИИ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5280794" y="2757488"/>
            <a:ext cx="3367088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Подключение OpenRouter.ai для автоматической классификации и ранжирования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4006304" y="3285381"/>
            <a:ext cx="425276" cy="19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</p:spPr>
        <p:txBody>
          <a:bodyPr/>
          <a:lstStyle/>
          <a:p/>
        </p:txBody>
      </p:sp>
      <p:sp>
        <p:nvSpPr>
          <p:cNvPr id="15" name="Shape 13"/>
          <p:cNvSpPr/>
          <p:nvPr/>
        </p:nvSpPr>
        <p:spPr>
          <a:xfrm>
            <a:off x="4412531" y="313543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/>
        </p:txBody>
      </p:sp>
      <p:sp>
        <p:nvSpPr>
          <p:cNvPr id="16" name="Text 14"/>
          <p:cNvSpPr/>
          <p:nvPr/>
        </p:nvSpPr>
        <p:spPr>
          <a:xfrm>
            <a:off x="4465700" y="3162002"/>
            <a:ext cx="212601" cy="2658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50"/>
          </a:p>
        </p:txBody>
      </p:sp>
      <p:sp>
        <p:nvSpPr>
          <p:cNvPr id="17" name="Text 15"/>
          <p:cNvSpPr/>
          <p:nvPr/>
        </p:nvSpPr>
        <p:spPr>
          <a:xfrm>
            <a:off x="1331193" y="3184103"/>
            <a:ext cx="253201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Этап 3 — Масштабирование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496119" y="3490615"/>
            <a:ext cx="3367088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Добавление раздела международного трекинга и расширение источников</a:t>
            </a:r>
            <a:endParaRPr lang="en-US" sz="1100"/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>
  <p:cSld name="Slide 10">
    <p:bg>
      <p:bgPr>
        <a:gradFill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881" y="561417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Будущее за автоматизацией</a:t>
            </a:r>
            <a:endParaRPr lang="en-US" sz="2750"/>
          </a:p>
        </p:txBody>
      </p:sp>
      <p:sp>
        <p:nvSpPr>
          <p:cNvPr id="4" name="Shape 1"/>
          <p:cNvSpPr/>
          <p:nvPr/>
        </p:nvSpPr>
        <p:spPr>
          <a:xfrm>
            <a:off x="496119" y="2072580"/>
            <a:ext cx="4722763" cy="2096839"/>
          </a:xfrm>
          <a:prstGeom prst="roundRect">
            <a:avLst>
              <a:gd name="adj" fmla="val 284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Shape 2"/>
          <p:cNvSpPr/>
          <p:nvPr/>
        </p:nvSpPr>
        <p:spPr>
          <a:xfrm>
            <a:off x="500881" y="2077343"/>
            <a:ext cx="2356619" cy="1270471"/>
          </a:xfrm>
          <a:prstGeom prst="rect">
            <a:avLst/>
          </a:prstGeom>
          <a:solidFill>
            <a:srgbClr val="DADBF1"/>
          </a:solidFill>
        </p:spPr>
        <p:txBody>
          <a:bodyPr/>
          <a:lstStyle/>
          <a:p/>
        </p:txBody>
      </p:sp>
      <p:sp>
        <p:nvSpPr>
          <p:cNvPr id="6" name="Text 3"/>
          <p:cNvSpPr/>
          <p:nvPr/>
        </p:nvSpPr>
        <p:spPr>
          <a:xfrm>
            <a:off x="642640" y="2219102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Один клик</a:t>
            </a:r>
            <a:endParaRPr lang="en-US" sz="1350"/>
          </a:p>
        </p:txBody>
      </p:sp>
      <p:sp>
        <p:nvSpPr>
          <p:cNvPr id="7" name="Text 4"/>
          <p:cNvSpPr/>
          <p:nvPr/>
        </p:nvSpPr>
        <p:spPr>
          <a:xfrm>
            <a:off x="642640" y="2525613"/>
            <a:ext cx="2073101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превращён из многочасовой рутины в мгновенный результат</a:t>
            </a:r>
            <a:endParaRPr lang="en-US" sz="1100"/>
          </a:p>
        </p:txBody>
      </p:sp>
      <p:sp>
        <p:nvSpPr>
          <p:cNvPr id="8" name="Shape 5"/>
          <p:cNvSpPr/>
          <p:nvPr/>
        </p:nvSpPr>
        <p:spPr>
          <a:xfrm>
            <a:off x="2857500" y="2077343"/>
            <a:ext cx="2356619" cy="1270471"/>
          </a:xfrm>
          <a:prstGeom prst="rect">
            <a:avLst/>
          </a:prstGeom>
          <a:solidFill>
            <a:srgbClr val="DADBF1"/>
          </a:solidFill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2857500" y="2077343"/>
            <a:ext cx="19050" cy="1270471"/>
          </a:xfrm>
          <a:prstGeom prst="roundRect">
            <a:avLst>
              <a:gd name="adj" fmla="val 312558"/>
            </a:avLst>
          </a:prstGeom>
          <a:solidFill>
            <a:srgbClr val="C0C1D7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2999259" y="2219102"/>
            <a:ext cx="192985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Открытая платформа</a:t>
            </a:r>
            <a:endParaRPr lang="en-US" sz="1350"/>
          </a:p>
        </p:txBody>
      </p:sp>
      <p:sp>
        <p:nvSpPr>
          <p:cNvPr id="11" name="Text 8"/>
          <p:cNvSpPr/>
          <p:nvPr/>
        </p:nvSpPr>
        <p:spPr>
          <a:xfrm>
            <a:off x="2999259" y="2525613"/>
            <a:ext cx="2073101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Готовы к интеграции новых источников данных и партнёрств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500881" y="3347814"/>
            <a:ext cx="4713238" cy="816843"/>
          </a:xfrm>
          <a:prstGeom prst="rect">
            <a:avLst/>
          </a:prstGeom>
          <a:solidFill>
            <a:srgbClr val="DADBF1"/>
          </a:solidFill>
        </p:spPr>
        <p:txBody>
          <a:bodyPr/>
          <a:lstStyle/>
          <a:p/>
        </p:txBody>
      </p:sp>
      <p:sp>
        <p:nvSpPr>
          <p:cNvPr id="13" name="Shape 10"/>
          <p:cNvSpPr/>
          <p:nvPr/>
        </p:nvSpPr>
        <p:spPr>
          <a:xfrm>
            <a:off x="500881" y="3347814"/>
            <a:ext cx="4713238" cy="19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642640" y="3489573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Присоединяйтесь</a:t>
            </a:r>
            <a:endParaRPr lang="en-US" sz="1350"/>
          </a:p>
        </p:txBody>
      </p:sp>
      <p:sp>
        <p:nvSpPr>
          <p:cNvPr id="15" name="Text 12"/>
          <p:cNvSpPr/>
          <p:nvPr/>
        </p:nvSpPr>
        <p:spPr>
          <a:xfrm>
            <a:off x="642640" y="3796085"/>
            <a:ext cx="4429720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 уже открыто — станьте первым пользователем</a:t>
            </a:r>
            <a:endParaRPr lang="en-US" sz="110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78CAD6D-1E34-45F9-8BAF-6CDCA6DD4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482" y="5387"/>
            <a:ext cx="6119610" cy="51435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159="http://schemas.microsoft.com/office/powerpoint/2015/09/main" xmlns:p="http://schemas.openxmlformats.org/presentationml/2006/main" show="0">
  <p:cSld>
    <p:bg>
      <p:bgPr>
        <a:gradFill>
          <a:gsLst>
            <a:gs pos="100000">
              <a:srgbClr val="92D050"/>
            </a:gs>
            <a:gs pos="34000">
              <a:srgbClr val="569DEC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ext 0"/>
          <p:cNvSpPr/>
          <p:nvPr/>
        </p:nvSpPr>
        <p:spPr>
          <a:xfrm>
            <a:off x="495300" y="524917"/>
            <a:ext cx="4001319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27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</a:rPr>
              <a:t>Итоги проекта</a:t>
            </a:r>
            <a:endParaRPr lang="en-US" sz="2750"/>
          </a:p>
        </p:txBody>
      </p:sp>
    </p:spTree>
    <p:extLst>
      <p:ext uri="{BB962C8B-B14F-4D97-AF65-F5344CB8AC3E}">
        <p14:creationId xmlns:p14="http://schemas.microsoft.com/office/powerpoint/2010/main" val="2641783088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10.0.14393.0"/>
  <p:tag name="AS_RELEASE_DATE" val="2019.12.14"/>
  <p:tag name="AS_TITLE" val="Aspose.Slides for .NET 4.0 Client Profile"/>
  <p:tag name="AS_VERSION" val="19.1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(16:9)</PresentationFormat>
  <Paragraphs>67</Paragraphs>
  <Slides>11</Slides>
  <Notes>10</Notes>
  <TotalTime>929</TotalTime>
  <HiddenSlides>3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19">
      <vt:lpstr>Arial</vt:lpstr>
      <vt:lpstr>Calibri Light</vt:lpstr>
      <vt:lpstr>Calibri</vt:lpstr>
      <vt:lpstr>Arial Black</vt:lpstr>
      <vt:lpstr>Inter Bold</vt:lpstr>
      <vt:lpstr>Ramona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19.1200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Презентация PowerPoint</dc:title>
  <cp:lastModifiedBy>Максим Трифонов</cp:lastModifiedBy>
  <cp:revision>52</cp:revision>
  <dcterms:created xsi:type="dcterms:W3CDTF">2026-06-29T06:04:04Z</dcterms:created>
  <dcterms:modified xsi:type="dcterms:W3CDTF">2026-07-06T02:33:10Z</dcterms:modified>
</cp:coreProperties>
</file>